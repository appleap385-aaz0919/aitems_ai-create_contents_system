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A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6C5CE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문항 저작도구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5팀 파이프라인 설계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학습맵 → 자동 문항 생성 → 검수 → xAPI 적용 → 통신 검증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 | 동아출판 AI 디지털교과서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파이프라인 전체 구조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팀이 순차적으로 학습맵 기반 문항을 자동 생성·검증하는 파이프라인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219456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155448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메타정보 생성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94560" y="1463040"/>
            <a:ext cx="1554480" cy="219456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94560" y="1463040"/>
            <a:ext cx="155448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645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9456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제작팀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문항 저작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332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31920" y="1463040"/>
            <a:ext cx="1554480" cy="2194560"/>
          </a:xfrm>
          <a:prstGeom prst="rect">
            <a:avLst/>
          </a:prstGeom>
          <a:solidFill>
            <a:srgbClr val="E6F9F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0" y="1463040"/>
            <a:ext cx="155448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1645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93192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4영역 검증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068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669280" y="1463040"/>
            <a:ext cx="1554480" cy="2194560"/>
          </a:xfrm>
          <a:prstGeom prst="rect">
            <a:avLst/>
          </a:prstGeom>
          <a:solidFill>
            <a:srgbClr val="FFF8E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1463040"/>
            <a:ext cx="1554480" cy="54864"/>
          </a:xfrm>
          <a:prstGeom prst="rect">
            <a:avLst/>
          </a:prstGeom>
          <a:solidFill>
            <a:srgbClr val="F0932B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1645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66928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9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xAPI 적용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7804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06640" y="1463040"/>
            <a:ext cx="1554480" cy="219456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06640" y="1463040"/>
            <a:ext cx="15544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1645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0664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 검증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E8EDF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흐름: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학습맵 XLSX → 규칙+LLM 메타 생성 → Claude API 문항 저작 → LLM 교차 검증(38항목) → 비침습 xAPI(octo-bridge.js) → Headless 자동 테스트(24항목)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01  기획팀 — 메타정보 생성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데이터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학습맵 XLSX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1,819행 × 20열 (depth 1~3, 활동유형)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교과과정 표준체계 XLSX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419행 × 16열 (성취기준, 내용체계)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규칙엔진 3축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Depth3 활동유형 → 문항 성격(진단/연습/심화)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내용체계 4영역 → 문항유형 결정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교급×학년 보정 → 난이도·배점 자동 산출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출력: 메타정보 JSON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question_type: "객관식(4지선다)"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difficulty: "중"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blooms_level: "적용"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content_element: "과정기능"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score: 3, time_limit: 90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content_area: "수와 연산"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achievement: "[4수01-03]"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learning_map_id: "E4MATA01B03C05"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guide: "받아올림 여러 번 덧셈"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02  제작팀 — LLM 문항 저작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2-Pass 파이프라인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Pass — 콘텐츠 생성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메타 JSON → Claude API 호출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발문, 보기(오개념 기반), 정답, 해설 생성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구조로 출력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Pass — 코드 생성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 코드 생성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웹접근성(UDL v0.1) 필수 규칙 주입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MathType div 구조 / reset.css 변수 활용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문항유형 10종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1874520" cy="310896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41732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객관식(MC)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20840" y="1417320"/>
            <a:ext cx="1874520" cy="310896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41732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OX판별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1801368"/>
            <a:ext cx="1874520" cy="310896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801368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빈칸채우기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20840" y="1801368"/>
            <a:ext cx="1874520" cy="310896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801368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서술형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2185416"/>
            <a:ext cx="1874520" cy="310896"/>
          </a:xfrm>
          <a:prstGeom prst="rect">
            <a:avLst/>
          </a:prstGeom>
          <a:solidFill>
            <a:srgbClr val="E6F9F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185416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드래그앤드롭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20840" y="2185416"/>
            <a:ext cx="1874520" cy="310896"/>
          </a:xfrm>
          <a:prstGeom prst="rect">
            <a:avLst/>
          </a:prstGeom>
          <a:solidFill>
            <a:srgbClr val="E6F9F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20840" y="2185416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순서배열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569464"/>
            <a:ext cx="1874520" cy="310896"/>
          </a:xfrm>
          <a:prstGeom prst="rect">
            <a:avLst/>
          </a:prstGeom>
          <a:solidFill>
            <a:srgbClr val="E6F9F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569464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20840" y="2569464"/>
            <a:ext cx="1874520" cy="310896"/>
          </a:xfrm>
          <a:prstGeom prst="rect">
            <a:avLst/>
          </a:prstGeom>
          <a:solidFill>
            <a:srgbClr val="FFF8E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20840" y="2569464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수식(MathType)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953512"/>
            <a:ext cx="1874520" cy="310896"/>
          </a:xfrm>
          <a:prstGeom prst="rect">
            <a:avLst/>
          </a:prstGeom>
          <a:solidFill>
            <a:srgbClr val="FFF8E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2953512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이미지(SVG)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20840" y="2953512"/>
            <a:ext cx="1874520" cy="310896"/>
          </a:xfrm>
          <a:prstGeom prst="rect">
            <a:avLst/>
          </a:prstGeom>
          <a:solidFill>
            <a:srgbClr val="FFF8E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20840" y="2953512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좌표평면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구조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749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Q-{id}/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index.html + css/reset.css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css/style.css + js/item.js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meta.json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03  검수팀 — 4영역 38항목 검증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822960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코드 무결성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11항목 | 25점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1051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 파싱, reset.css 순서, MathType 구조, 표준 인터페이스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E6F9F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64008" cy="8229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교육적 정확성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10항목 | 30점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20116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검증, 난이도 적합, Bloom's 부합, 메타편집 재생성 정합성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71800"/>
            <a:ext cx="64008" cy="8229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접근성 (UDL)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12항목 | 20점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29718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 텍스트, 명도대비 4.5:1, 키보드 조작, label 매칭, lang='ko'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8E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31920"/>
            <a:ext cx="64008" cy="822960"/>
          </a:xfrm>
          <a:prstGeom prst="rect">
            <a:avLst/>
          </a:prstGeom>
          <a:solidFill>
            <a:srgbClr val="F0932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9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 채점 로직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5항목 | 25점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39319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정답/오답/부분/미응답 시뮬레이션 + getResult 일관성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8ED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판정: </a:t>
            </a:r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승인(80+점) | 조건부(60~79) | 반려(60미만 or Critical 1+). 반려 시 제작팀 재저작 (최대 3회)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093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04  데이터팀 — xAPI + OctoPlayer 연동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9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OctoPlayer 3레이어 구조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54864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컨테이너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OctoPlayer 앱 쉘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64008" cy="548640"/>
          </a:xfrm>
          <a:prstGeom prst="rect">
            <a:avLst/>
          </a:prstGeom>
          <a:solidFill>
            <a:srgbClr val="F0932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48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9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뷰어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관리·통신 중개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88920"/>
            <a:ext cx="64008" cy="548640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(iframe)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632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 HTML + octo-bridge.js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1783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postMessage ↕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1168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postMessage 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9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xAPI Verb 7종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solidFill>
            <a:srgbClr val="FFF8E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로딩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746504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746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17465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 표시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075688"/>
            <a:ext cx="3931920" cy="274320"/>
          </a:xfrm>
          <a:prstGeom prst="rect">
            <a:avLst/>
          </a:prstGeom>
          <a:solidFill>
            <a:srgbClr val="FFF8E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075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2075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채점 완료 + extensions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404872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404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24048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 보기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734056"/>
            <a:ext cx="3931920" cy="274320"/>
          </a:xfrm>
          <a:prstGeom prst="rect">
            <a:avLst/>
          </a:prstGeom>
          <a:solidFill>
            <a:srgbClr val="FFF8E6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7340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27340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초기화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063240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 이벤트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392424"/>
            <a:ext cx="3931920" cy="274320"/>
          </a:xfrm>
          <a:prstGeom prst="rect">
            <a:avLst/>
          </a:prstGeom>
          <a:solidFill>
            <a:srgbClr val="FFF8E6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3924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33924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이탈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8E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9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비침습 원칙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4069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item.js 절대 수정 안 함. octo-bridge.js 1파일만 추가.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함수 래핑 방식: submitAnswer → octo-bridge가 가로채서 xAPI 발화 후 원본 호출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채점 extensions: skip, req-act-cnt, com-act-cnt, com-act-rt, crt-cnt, incrt-cnt, crt-rt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05  플랫폼팀 — 자동 검증 (24항목)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xAPI 이벤트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441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8항목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10515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Verb 발화 시점·데이터·순서, extensions 정합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postMessage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6항목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7373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requestUserId, sendRestoreData, contentId/Tag 전달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59436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라이프사이클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7157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5항목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4231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초기화→학습→종료 E2E, timestamp, duration 정확도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154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restore 복원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4015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5항목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31089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상태 복원, 재채점 일관성, 빈 restore 안전 처리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방식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3931920" cy="64008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(Headless Chromium)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mock-viewer.html이 뷰어 모킹 + capturedMessages 캡처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판정·반려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4251960"/>
            <a:ext cx="3931920" cy="64008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/ FAILED 2단계 판정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→ 데이터팀 반려 (최대 2회, 3회 시 escalated)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플랫폼 가이드 4종 반영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8229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G1. 웹접근성 UDL v0.1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051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96항목 중 2025년 필수 9개 반영. 대체 텍스트, 명도대비 4.5:1, 키보드 초점, label/for 매칭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E6F9F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64008" cy="8229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G2. MathType 수식입력기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KaTeX→MathType 전면 교체. showMathType(id,val,toolbar), 교급별 toolbar(elementary/high)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71800"/>
            <a:ext cx="64008" cy="822960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G3. 번역API (파파고)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971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/v-api/v1/translate/text|web. ko/en/ja/zh-CN/vi. X-API-KEY: donga-naver-papago-GoT9zJh4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8E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31920"/>
            <a:ext cx="64008" cy="822960"/>
          </a:xfrm>
          <a:prstGeom prst="rect">
            <a:avLst/>
          </a:prstGeom>
          <a:solidFill>
            <a:srgbClr val="F0932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9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G4. 표준 reset.css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931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Spoqa Han Sans Neo + Noto Sans KR, --primary-color:#0084ff, 전역 리셋, css/reset.css 필수 포함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검수 반려 → 재저작 루프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4630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제작팀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생성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128016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0" y="1280160"/>
            <a:ext cx="14630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033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0" y="128016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1280160"/>
            <a:ext cx="1463040" cy="54864"/>
          </a:xfrm>
          <a:prstGeom prst="rect">
            <a:avLst/>
          </a:prstGeom>
          <a:solidFill>
            <a:srgbClr val="D6303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반려 사유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63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0" y="128016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280160"/>
            <a:ext cx="14630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제작팀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재저작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609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0" y="128016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0" y="1280160"/>
            <a:ext cx="14630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재검수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E8EDF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반려 규칙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2004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검수팀 → 제작팀: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반려(60미만 or Critical 1+) → 이슈+수정가이드 전달 → 부분수정 → 재검수 (최대 3회)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3회 초과 실패 → ESCALATED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플랫폼팀 → 데이터팀: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FAILED → octo-bridge.js 수정 요청 (fix_guide 포함) → 재검증 (최대 2회)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P3 라이프사이클 중 item.js 원인 → 검수팀 경유 → 제작팀 에스컬레이션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AItemS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5팀 파이프라인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설계 완료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기획팀: 학습맵 XLSX → 규칙+LLM 메타정보 생성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584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제작팀: Claude API 2-Pass 문항 저작 + 플랫폼 가이드 4종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8770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검수팀: 4영역 38항목 LLM 교차 검증 + 반려 루프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169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데이터팀: 비침습 xAPI + OctoPlayer postMessage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4622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플랫폼팀: Headless 자동 검증 24항목 + 데이터팀 반려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문항 저작도구 5팀 파이프라인 설계</dc:title>
  <dc:subject>PptxGenJS Presentation</dc:subject>
  <dc:creator>AItemS</dc:creator>
  <cp:lastModifiedBy>AItemS</cp:lastModifiedBy>
  <cp:revision>1</cp:revision>
  <dcterms:created xsi:type="dcterms:W3CDTF">2026-03-25T01:57:21Z</dcterms:created>
  <dcterms:modified xsi:type="dcterms:W3CDTF">2026-03-25T01:57:21Z</dcterms:modified>
</cp:coreProperties>
</file>